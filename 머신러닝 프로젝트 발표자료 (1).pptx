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82" r:id="rId4"/>
    <p:sldId id="281" r:id="rId5"/>
    <p:sldId id="28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7" r:id="rId26"/>
    <p:sldId id="283" r:id="rId27"/>
    <p:sldId id="284" r:id="rId28"/>
    <p:sldId id="285" r:id="rId29"/>
    <p:sldId id="286" r:id="rId30"/>
    <p:sldId id="279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Lato Black" panose="020F0502020204030203" pitchFamily="34" charset="0"/>
      <p:bold r:id="rId37"/>
      <p:boldItalic r:id="rId38"/>
    </p:embeddedFont>
    <p:embeddedFont>
      <p:font typeface="Lato Light" panose="020F0502020204030203" pitchFamily="34" charset="0"/>
      <p:regular r:id="rId39"/>
      <p:bold r:id="rId40"/>
      <p:italic r:id="rId41"/>
      <p:boldItalic r:id="rId42"/>
    </p:embeddedFont>
    <p:embeddedFont>
      <p:font typeface="맑은 고딕" panose="020B0503020000020004" pitchFamily="50" charset="-127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맑은 고딕" panose="020B0503020000020004" pitchFamily="50" charset="-127"/>
        <a:ea typeface="맑은 고딕" panose="020B0503020000020004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39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830207b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b830207ba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830207b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b830207b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830207b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eb830207b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b830207ba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b830207ba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b830207b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b830207b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b830207b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b830207b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5ecc5333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3e5ecc533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5ecc53339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5ecc53339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5ecc5333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5ecc5333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5ecc5333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5ecc5333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5ecc53339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5ecc53339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5ecc5333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3" name="Google Shape;263;g3e5ecc5333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683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8" name="Google Shape;3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608352" y="1766700"/>
            <a:ext cx="69753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기반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지능형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의류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시스템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720350" y="4893194"/>
            <a:ext cx="27513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Project By: </a:t>
            </a:r>
            <a:endParaRPr sz="1350" b="0" i="0" u="none" strike="noStrike" cap="none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데이터사이언스</a:t>
            </a:r>
            <a:r>
              <a:rPr lang="en-US" sz="135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20252413 </a:t>
            </a: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연우</a:t>
            </a:r>
            <a:endParaRPr sz="1350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데이터사이언스</a:t>
            </a:r>
            <a:r>
              <a:rPr lang="en-US" sz="135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20242405 이 </a:t>
            </a:r>
            <a:r>
              <a:rPr lang="en-US" sz="1350" b="0" i="0" u="none" strike="noStrike" cap="none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</a:t>
            </a:r>
            <a:endParaRPr sz="1350" b="0" i="0" u="none" strike="noStrike" cap="none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데이터사이언스</a:t>
            </a:r>
            <a:r>
              <a:rPr lang="en-US" sz="135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20262402 </a:t>
            </a: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김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장원</a:t>
            </a:r>
            <a:endParaRPr sz="1350" b="0" i="0" u="none" strike="noStrike" cap="none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의생명과학과</a:t>
            </a:r>
            <a:r>
              <a:rPr lang="en-US" sz="135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20252002 김민지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986087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01607" y="3328987"/>
            <a:ext cx="77887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Part 1. </a:t>
            </a:r>
            <a:r>
              <a:rPr lang="ko-KR" altLang="en-US" sz="4800" b="1" i="0" u="none" strike="noStrike" cap="none" dirty="0">
                <a:solidFill>
                  <a:srgbClr val="0F172A"/>
                </a:solidFill>
                <a:latin typeface="+mj-ea"/>
                <a:ea typeface="+mj-ea"/>
                <a:cs typeface="Lato"/>
                <a:sym typeface="Lato"/>
              </a:rPr>
              <a:t>프로젝트</a:t>
            </a:r>
            <a:r>
              <a:rPr lang="ko-KR" alt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배경 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15">
            <a:extLst>
              <a:ext uri="{FF2B5EF4-FFF2-40B4-BE49-F238E27FC236}">
                <a16:creationId xmlns:a16="http://schemas.microsoft.com/office/drawing/2014/main" id="{3CCE6A81-1B6A-46CA-B530-666AD7DCBC0D}"/>
              </a:ext>
            </a:extLst>
          </p:cNvPr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06;p15">
            <a:extLst>
              <a:ext uri="{FF2B5EF4-FFF2-40B4-BE49-F238E27FC236}">
                <a16:creationId xmlns:a16="http://schemas.microsoft.com/office/drawing/2014/main" id="{61E0A3F5-CAA9-4674-89EF-CB7E874847E8}"/>
              </a:ext>
            </a:extLst>
          </p:cNvPr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프로젝트 소개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AFCF1-4B80-4DB6-9801-B20FF1A12AA9}"/>
              </a:ext>
            </a:extLst>
          </p:cNvPr>
          <p:cNvSpPr txBox="1"/>
          <p:nvPr/>
        </p:nvSpPr>
        <p:spPr>
          <a:xfrm>
            <a:off x="571500" y="1800815"/>
            <a:ext cx="84004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본 프로젝트는 날씨 데이터를 분석하여 기온과 체감온도 등의 요소를 반영한 옷차림을 추천하는 시스템을 구현한다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F2328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또한 날씨에 따른 악세사리를 추천해주고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성별 요소를 고려해 맞춤형 추천 기능을 통해 실생활에서 활용 가능한 서비스를 제안한다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05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7;p15">
            <a:extLst>
              <a:ext uri="{FF2B5EF4-FFF2-40B4-BE49-F238E27FC236}">
                <a16:creationId xmlns:a16="http://schemas.microsoft.com/office/drawing/2014/main" id="{49C07922-DADD-4B7E-9B73-8421004496FD}"/>
              </a:ext>
            </a:extLst>
          </p:cNvPr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;p15">
            <a:extLst>
              <a:ext uri="{FF2B5EF4-FFF2-40B4-BE49-F238E27FC236}">
                <a16:creationId xmlns:a16="http://schemas.microsoft.com/office/drawing/2014/main" id="{DABA1FE0-E62E-42E8-9A5F-310356D0BE98}"/>
              </a:ext>
            </a:extLst>
          </p:cNvPr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PROBLEM : </a:t>
            </a:r>
            <a:r>
              <a:rPr lang="ko-KR" altLang="en-US" sz="3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기존의 문제점</a:t>
            </a:r>
            <a:endParaRPr sz="3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D642C83-4184-4EB8-B3F2-B33284BDC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359153"/>
            <a:ext cx="106843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Lato" panose="020F0502020204030203" pitchFamily="34" charset="0"/>
              </a:rPr>
              <a:t>급격한 환절기나 변덕스러운 기상 변화 속에서 잘못된 옷차림 선택으로 불편함을 겪는 일상적인 페인 포인트(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Lato" panose="020F0502020204030203" pitchFamily="34" charset="0"/>
              </a:rPr>
              <a:t>Pain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Lato" panose="020F0502020204030203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Lato" panose="020F0502020204030203" pitchFamily="34" charset="0"/>
              </a:rPr>
              <a:t>Point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Lato" panose="020F0502020204030203" pitchFamily="34" charset="0"/>
              </a:rPr>
              <a:t>)가 존재함.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959C0D-31C6-41CA-9824-3675A155DD1C}"/>
              </a:ext>
            </a:extLst>
          </p:cNvPr>
          <p:cNvSpPr txBox="1"/>
          <p:nvPr/>
        </p:nvSpPr>
        <p:spPr>
          <a:xfrm>
            <a:off x="571500" y="1800815"/>
            <a:ext cx="84004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매일 아침 "오늘 뭐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입지?"라는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고민은 누구나 하지만, 단순히 기상청의 수치적 기온(예: 18°C)만 보고는 어떤 두께의 옷을 입어야 할지 직관적으로 체감하기 어려움.</a:t>
            </a: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3FC2368F-8EFE-4E7C-906C-49994D4690EF}"/>
              </a:ext>
            </a:extLst>
          </p:cNvPr>
          <p:cNvSpPr/>
          <p:nvPr/>
        </p:nvSpPr>
        <p:spPr>
          <a:xfrm rot="5400000">
            <a:off x="4969163" y="2980105"/>
            <a:ext cx="544946" cy="692727"/>
          </a:xfrm>
          <a:prstGeom prst="chevron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Google Shape;107;p15">
            <a:extLst>
              <a:ext uri="{FF2B5EF4-FFF2-40B4-BE49-F238E27FC236}">
                <a16:creationId xmlns:a16="http://schemas.microsoft.com/office/drawing/2014/main" id="{8EB0B908-909D-4CF1-A365-0FB40F811C09}"/>
              </a:ext>
            </a:extLst>
          </p:cNvPr>
          <p:cNvSpPr/>
          <p:nvPr/>
        </p:nvSpPr>
        <p:spPr>
          <a:xfrm>
            <a:off x="566882" y="3910083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06;p15">
            <a:extLst>
              <a:ext uri="{FF2B5EF4-FFF2-40B4-BE49-F238E27FC236}">
                <a16:creationId xmlns:a16="http://schemas.microsoft.com/office/drawing/2014/main" id="{5E10566B-2E1F-40A1-AF1F-1DB3031AA40D}"/>
              </a:ext>
            </a:extLst>
          </p:cNvPr>
          <p:cNvSpPr txBox="1"/>
          <p:nvPr/>
        </p:nvSpPr>
        <p:spPr>
          <a:xfrm>
            <a:off x="762000" y="3910083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300" b="1" dirty="0">
                <a:latin typeface="+mj-ea"/>
                <a:ea typeface="+mj-ea"/>
              </a:rPr>
              <a:t>SOLUTION : </a:t>
            </a:r>
            <a:r>
              <a:rPr lang="ko-KR" altLang="en-US" sz="3300" b="1" dirty="0">
                <a:latin typeface="+mj-ea"/>
                <a:ea typeface="+mj-ea"/>
              </a:rPr>
              <a:t>프로젝트 목적 및 핵심 기능</a:t>
            </a:r>
            <a:endParaRPr sz="33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7A03D09F-3493-4ABF-95E8-32E76846D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05173"/>
            <a:ext cx="1145377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하이브리드 데이터 융합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실제 대중들의 성별 트렌드가 반영된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인스타그램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크롤링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데이터셋을 결합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하여 현실성 확보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개인화 추천 엔진 구축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랜덤 포레스트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(Random Forest)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알고리즘을 통해 사용자의 성별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당일 기온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날씨를 종합 분석하는 정밀 모델 구현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복합 큐레이션 서비스: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직관적인 의류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두께감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outfit_level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제안은 물론, 우산이나 선글라스 같은 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날씨 맞춤형 액세서리까지 한 번에 추천하는 </a:t>
            </a:r>
            <a:endParaRPr kumimoji="0" lang="en-US" altLang="ko-K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실용적 프로그램 개발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72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2986087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01607" y="3328987"/>
            <a:ext cx="77887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Part 2.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설계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수집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19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13185"/>
            <a:ext cx="5286375" cy="432241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571500" y="2179885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피처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설계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571500" y="2713285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실제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체감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온도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상태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성별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등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다각도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고려하여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카테고리별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최적의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설계하였습니다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13185"/>
            <a:ext cx="5286375" cy="4322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809625" y="3414266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독립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체감온도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성별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809625" y="3757166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종속</a:t>
            </a:r>
            <a:r>
              <a:rPr lang="en-US" sz="135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내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정의된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의류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레벨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4100066"/>
            <a:ext cx="50484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  <a:r>
              <a:rPr lang="en-US" sz="1300" b="1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b="1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분리</a:t>
            </a:r>
            <a:r>
              <a:rPr lang="en-US" sz="1300" b="1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성별에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따라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맞춤형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추천을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위한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sz="1300" dirty="0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1300" dirty="0" err="1">
                <a:solidFill>
                  <a:srgbClr val="1F1F1F"/>
                </a:solidFill>
                <a:highlight>
                  <a:srgbClr val="F2F0F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분리</a:t>
            </a:r>
            <a:r>
              <a:rPr lang="en-US" sz="11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3414266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757166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100066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학습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구성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및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생성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전략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71500" y="2436018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다중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소스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통합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2969418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자체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외부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트렌드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결합하여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모델의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실용성을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극대화하였습니다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646625" y="4195349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크롤링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인스타그램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등 SNS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패션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트렌드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수집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46625" y="4538249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환경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최적화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Google Drive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연동으로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보존성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확보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46625" y="4881149"/>
            <a:ext cx="504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전처리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데이터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연동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및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통합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,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데이터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정제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및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매핑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,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규칙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기반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타겟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라벨링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,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머신러닝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r>
              <a:rPr lang="en-US" sz="1350" dirty="0" err="1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인코딩</a:t>
            </a:r>
            <a:r>
              <a:rPr lang="en-US" sz="1350" dirty="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 </a:t>
            </a:r>
            <a:endParaRPr sz="1350" dirty="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646625" y="5296649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규모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10,000개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이상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확보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08500" y="4195349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08500" y="4538249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08500" y="4881149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08500" y="5296649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수집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및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전처리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파이프라인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75" y="1718287"/>
            <a:ext cx="5629475" cy="413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646625" y="3752724"/>
            <a:ext cx="50484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자체</a:t>
            </a:r>
            <a:r>
              <a:rPr lang="en-US" sz="135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1350" b="1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수집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자체적으로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날씨와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체감온도에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따른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옷차림을</a:t>
            </a:r>
            <a:r>
              <a:rPr lang="en-US" sz="1350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08488" y="3752724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전처리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71500" y="919311"/>
            <a:ext cx="76200" cy="56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1645225"/>
            <a:ext cx="109797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1. 온/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오프라인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연동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환경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최적화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762000" y="2503600"/>
            <a:ext cx="9559500" cy="12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클라우드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연동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google.colab.drive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모듈을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활용하여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구글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드라이브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내에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저장된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인스타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그램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패션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데이터셋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수집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연동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오픈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인프라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연동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GitHub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원격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레포지토리에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업로드된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URL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형태로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실시간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동적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로드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000" y="3854400"/>
            <a:ext cx="6725250" cy="11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000" y="5115900"/>
            <a:ext cx="17453399" cy="11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전처리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571500" y="919311"/>
            <a:ext cx="76200" cy="56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1645225"/>
            <a:ext cx="109797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2.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구조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통합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예외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처리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762000" y="2503600"/>
            <a:ext cx="9559500" cy="29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한국어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인코딩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최적화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인스타그램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크롤링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파일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로드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시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발생하는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한글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깨짐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오류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디코딩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예외를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방지하기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위해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>
                <a:solidFill>
                  <a:srgbClr val="18803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encoding='cp949'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옵션을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적용하여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텍스트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인코딩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처리함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결측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특징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구조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동질화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인스타그램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누락된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아우터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및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이너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칼럼을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신규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생성하고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기본값으로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초기화하여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두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스키마를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일치시킴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칼럼명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표준화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간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상이한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특징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sz="2000" dirty="0">
                <a:solidFill>
                  <a:srgbClr val="1880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accessory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-&gt; </a:t>
            </a:r>
            <a:r>
              <a:rPr lang="en-US" sz="2000" dirty="0">
                <a:solidFill>
                  <a:srgbClr val="1880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accessories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을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통일하여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방지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정렬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칼럼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순서에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열을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재배치한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후, </a:t>
            </a:r>
            <a:r>
              <a:rPr lang="en-US" sz="2000" dirty="0" err="1">
                <a:solidFill>
                  <a:srgbClr val="188038"/>
                </a:solidFill>
                <a:latin typeface="+mn-ea"/>
                <a:ea typeface="+mn-ea"/>
                <a:cs typeface="Roboto Mono"/>
                <a:sym typeface="Roboto Mono"/>
              </a:rPr>
              <a:t>pd.concat</a:t>
            </a:r>
            <a:r>
              <a:rPr lang="en-US" sz="2000" dirty="0">
                <a:solidFill>
                  <a:srgbClr val="188038"/>
                </a:solidFill>
                <a:latin typeface="+mn-ea"/>
                <a:ea typeface="+mn-ea"/>
                <a:cs typeface="Roboto Mono"/>
                <a:sym typeface="Roboto Mono"/>
              </a:rPr>
              <a:t>(</a:t>
            </a:r>
            <a:r>
              <a:rPr lang="en-US" sz="2000" dirty="0" err="1">
                <a:solidFill>
                  <a:srgbClr val="188038"/>
                </a:solidFill>
                <a:latin typeface="+mn-ea"/>
                <a:ea typeface="+mn-ea"/>
                <a:cs typeface="Roboto Mono"/>
                <a:sym typeface="Roboto Mono"/>
              </a:rPr>
              <a:t>ignore_index</a:t>
            </a:r>
            <a:r>
              <a:rPr lang="en-US" sz="2000" dirty="0">
                <a:solidFill>
                  <a:srgbClr val="188038"/>
                </a:solidFill>
                <a:latin typeface="+mn-ea"/>
                <a:ea typeface="+mn-ea"/>
                <a:cs typeface="Roboto Mono"/>
                <a:sym typeface="Roboto Mono"/>
              </a:rPr>
              <a:t>=True)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통해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데이터셋으로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8988"/>
            <a:ext cx="11343200" cy="12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8163"/>
            <a:ext cx="5779975" cy="14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693913"/>
            <a:ext cx="9142607" cy="141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259663"/>
            <a:ext cx="12192000" cy="87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전처리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71500" y="919311"/>
            <a:ext cx="76200" cy="56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71500" y="1645225"/>
            <a:ext cx="109797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3.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규칙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기반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타겟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라벨링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762000" y="2503600"/>
            <a:ext cx="9559500" cy="29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도메인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지식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기반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파생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기온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그대로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쓰지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않고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옷차림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목적에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맞게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4단계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의류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두께감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카테고리라는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파생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새로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수학적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구간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분기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알고리즘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적용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assign_outfit_level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커스텀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함수를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구축하여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겨울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한파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(Level 0, 4도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)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부터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더운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여름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(Level 3, 23도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이상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)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까지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예외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없는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명확한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규칙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기반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라벨링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수행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t="11087"/>
          <a:stretch/>
        </p:blipFill>
        <p:spPr>
          <a:xfrm>
            <a:off x="762000" y="4136200"/>
            <a:ext cx="6466401" cy="20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6272450"/>
            <a:ext cx="6466401" cy="58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전처리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71500" y="919311"/>
            <a:ext cx="76200" cy="56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71500" y="1645225"/>
            <a:ext cx="10979700" cy="7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4.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범주형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변환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762000" y="2503600"/>
            <a:ext cx="9559500" cy="29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Label Encoder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활용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수치화</a:t>
            </a:r>
            <a:r>
              <a:rPr lang="en-US" sz="20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텍스트로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된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성별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독립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변수와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예측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목표인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outfit_Level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종속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변수를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AI모델이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연산할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수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있도록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정수형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변수로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최종</a:t>
            </a:r>
            <a:r>
              <a:rPr lang="en-US" sz="20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인코딩</a:t>
            </a: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429006"/>
            <a:ext cx="9537566" cy="20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5619750" y="2986087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650444" y="3328987"/>
            <a:ext cx="889111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Part 3.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머신러닝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모델</a:t>
            </a: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48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아키텍처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16075"/>
            <a:ext cx="34797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7000" y="2416075"/>
            <a:ext cx="35178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0600" y="2416075"/>
            <a:ext cx="34797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74945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904875" y="3587650"/>
            <a:ext cx="2953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KNN (K-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최근접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이웃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904875" y="4121050"/>
            <a:ext cx="2813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100개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미만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초기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단계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데이터셋에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적합합니다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구현이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용이하며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사람의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상식적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판단과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유사한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결과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도출이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가능합니다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88" name="Google Shape;18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9425" y="276850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4689425" y="3606700"/>
            <a:ext cx="2953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Random Forest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4689425" y="4082950"/>
            <a:ext cx="2813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1,000개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규모의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중간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데이터셋에서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강점을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보입니다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습도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강수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등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변수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증가에도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과적합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없이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높은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정확도를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유지합니다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91" name="Google Shape;19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3975" y="274945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3"/>
          <p:cNvSpPr txBox="1"/>
          <p:nvPr/>
        </p:nvSpPr>
        <p:spPr>
          <a:xfrm>
            <a:off x="8473975" y="3587650"/>
            <a:ext cx="29536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+mn-ea"/>
                <a:ea typeface="+mn-ea"/>
                <a:cs typeface="Poppins"/>
                <a:sym typeface="Poppins"/>
              </a:rPr>
              <a:t>LightGBM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8473975" y="4063900"/>
            <a:ext cx="2813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10,000개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이상의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대규모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데이터에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최적화되었습니다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이전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모델의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오차를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집중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학습하여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압도적인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학습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속도와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정밀도를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자랑합니다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데이터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규모별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최적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알고리즘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선정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모델별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성능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비교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분석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 rotWithShape="1">
          <a:blip r:embed="rId3">
            <a:alphaModFix/>
          </a:blip>
          <a:srcRect t="14082"/>
          <a:stretch/>
        </p:blipFill>
        <p:spPr>
          <a:xfrm>
            <a:off x="1487838" y="2011137"/>
            <a:ext cx="9216324" cy="28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/>
        </p:nvSpPr>
        <p:spPr>
          <a:xfrm>
            <a:off x="762000" y="919311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모델</a:t>
            </a:r>
            <a:r>
              <a:rPr lang="en-US" sz="33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아키텍쳐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571500" y="919311"/>
            <a:ext cx="76200" cy="5619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513" y="866011"/>
            <a:ext cx="5996964" cy="5125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9687" y="2169318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169318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/>
          <p:nvPr/>
        </p:nvSpPr>
        <p:spPr>
          <a:xfrm>
            <a:off x="6334125" y="2942778"/>
            <a:ext cx="55506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실시간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성별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및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기상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분기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334125" y="3476178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모델의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예측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결과를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바탕으로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사용자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환경을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실시간으로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감지하여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최적의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아이템을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선별합니다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.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6572250" y="4177158"/>
            <a:ext cx="5048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성별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필터링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치마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추천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방지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등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성별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맞춤형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하의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매칭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6572250" y="4520058"/>
            <a:ext cx="50482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기상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보정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로직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강수량과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기온을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결합한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지능형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판단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6572250" y="4862958"/>
            <a:ext cx="5048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추가용품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제안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방한용품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목도리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핫팩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),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여름용품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선글라스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),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비오는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 날(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우산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+mn-ea"/>
                <a:ea typeface="+mn-ea"/>
                <a:cs typeface="Lato"/>
                <a:sym typeface="Lato"/>
              </a:rPr>
              <a:t>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6334125" y="4177158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Lato"/>
                <a:sym typeface="Lato"/>
              </a:rPr>
              <a:t>→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6334125" y="4520058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Lato"/>
                <a:sym typeface="Lato"/>
              </a:rPr>
              <a:t>→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6334125" y="4862958"/>
            <a:ext cx="1714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+mn-ea"/>
                <a:ea typeface="+mn-ea"/>
                <a:cs typeface="Lato"/>
                <a:sym typeface="Lato"/>
              </a:rPr>
              <a:t>→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사용자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맞춤형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정밀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추천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로직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31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0412" y="247798"/>
            <a:ext cx="2825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/>
          <p:nvPr/>
        </p:nvSpPr>
        <p:spPr>
          <a:xfrm>
            <a:off x="834230" y="4665910"/>
            <a:ext cx="296708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비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오는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날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904875" y="5199310"/>
            <a:ext cx="282579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우산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레인부츠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612529" y="4665910"/>
            <a:ext cx="296708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추운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/눈 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오는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날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683174" y="5199310"/>
            <a:ext cx="282579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목도리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장갑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핫팩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8390829" y="4665910"/>
            <a:ext cx="296708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더운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/</a:t>
            </a:r>
            <a:r>
              <a:rPr lang="en-US" sz="2100" b="1" i="0" u="none" strike="noStrike" cap="none" dirty="0" err="1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맑은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날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8461474" y="5199310"/>
            <a:ext cx="2825799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선글라스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모자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양산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2" name="Google Shape;242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4875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831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762000" y="919311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상황별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필수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악세사리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서브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로직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61476" y="2456850"/>
            <a:ext cx="27701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/>
          <p:nvPr/>
        </p:nvSpPr>
        <p:spPr>
          <a:xfrm>
            <a:off x="571500" y="2396736"/>
            <a:ext cx="49530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매번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고정된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결과만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제공하는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시스템의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한계를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극복하기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위해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확률적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무작위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알고리즘을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결합하였습니다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.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809625" y="3240591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독립적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셔플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상/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하의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아우터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리스트를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독립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배열로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관리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809625" y="3583491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random.choice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사용자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접속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시마다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새로운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조합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생성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809625" y="3926391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경험적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가치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한정된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데이터셋으로도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무한한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코디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조합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제공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571500" y="3240591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571500" y="3583491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8" name="Google Shape;258;p28"/>
          <p:cNvSpPr txBox="1"/>
          <p:nvPr/>
        </p:nvSpPr>
        <p:spPr>
          <a:xfrm>
            <a:off x="571500" y="3926391"/>
            <a:ext cx="171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EA5E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→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762000" y="919311"/>
            <a:ext cx="500062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확률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기반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스타일링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다양성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oppins"/>
                <a:sym typeface="Poppins"/>
              </a:rPr>
              <a:t>확보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500" y="919311"/>
            <a:ext cx="76200" cy="11239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/>
          <p:nvPr/>
        </p:nvSpPr>
        <p:spPr>
          <a:xfrm>
            <a:off x="5619750" y="2986087"/>
            <a:ext cx="952500" cy="57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1650444" y="3328987"/>
            <a:ext cx="889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Part 4. </a:t>
            </a:r>
            <a:r>
              <a:rPr lang="en-US" sz="4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웹 </a:t>
            </a:r>
            <a:r>
              <a:rPr lang="en-US" sz="4800" b="1" dirty="0" err="1">
                <a:solidFill>
                  <a:srgbClr val="0F172A"/>
                </a:solidFill>
                <a:latin typeface="+mj-ea"/>
                <a:ea typeface="+mj-ea"/>
                <a:cs typeface="Lato"/>
                <a:sym typeface="Lato"/>
              </a:rPr>
              <a:t>인터페이스</a:t>
            </a:r>
            <a:r>
              <a:rPr lang="en-US" sz="4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48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구현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 title="KakaoTalk_20260601_2145352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0988"/>
            <a:ext cx="11887198" cy="3296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+mn-ea"/>
                <a:ea typeface="+mn-ea"/>
                <a:cs typeface="Lato"/>
                <a:sym typeface="Lato"/>
              </a:rPr>
              <a:t>요즘</a:t>
            </a:r>
            <a:r>
              <a:rPr lang="en-US" sz="3200" b="1" dirty="0">
                <a:solidFill>
                  <a:schemeClr val="dk1"/>
                </a:solidFill>
                <a:latin typeface="+mn-ea"/>
                <a:ea typeface="+mn-ea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n-ea"/>
                <a:ea typeface="+mn-ea"/>
                <a:cs typeface="Lato"/>
                <a:sym typeface="Lato"/>
              </a:rPr>
              <a:t>날씨</a:t>
            </a:r>
            <a:r>
              <a:rPr lang="ko-KR" altLang="en-US" sz="3200" b="1" dirty="0">
                <a:solidFill>
                  <a:schemeClr val="dk1"/>
                </a:solidFill>
                <a:latin typeface="+mn-ea"/>
                <a:ea typeface="+mn-ea"/>
                <a:cs typeface="Lato"/>
                <a:sym typeface="Lato"/>
              </a:rPr>
              <a:t>🍦</a:t>
            </a:r>
            <a:endParaRPr sz="3200" b="1" dirty="0">
              <a:solidFill>
                <a:schemeClr val="dk1"/>
              </a:solidFill>
              <a:latin typeface="+mn-ea"/>
              <a:ea typeface="+mn-ea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1" title="KakaoTalk_20260601_214535241_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8600"/>
            <a:ext cx="11887198" cy="324080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1"/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옷차림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추천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👕</a:t>
            </a:r>
            <a:endParaRPr sz="3200" b="1" dirty="0">
              <a:solidFill>
                <a:schemeClr val="dk1"/>
              </a:solidFill>
              <a:latin typeface="+mj-ea"/>
              <a:ea typeface="+mj-ea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2" title="KakaoTalk_20260601_214535241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6863"/>
            <a:ext cx="11887199" cy="328428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2"/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겨울철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날씨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⛄</a:t>
            </a:r>
            <a:endParaRPr sz="3200" b="1" dirty="0">
              <a:solidFill>
                <a:schemeClr val="dk1"/>
              </a:solidFill>
              <a:latin typeface="+mj-ea"/>
              <a:ea typeface="+mj-ea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3" title="KakaoTalk_20260601_214535241_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2600"/>
            <a:ext cx="118872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옷차림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추천</a:t>
            </a:r>
            <a:r>
              <a:rPr lang="en-US" sz="3200" b="1" dirty="0">
                <a:solidFill>
                  <a:schemeClr val="dk1"/>
                </a:solidFill>
                <a:latin typeface="+mj-ea"/>
                <a:ea typeface="+mj-ea"/>
                <a:cs typeface="Lato"/>
                <a:sym typeface="Lato"/>
              </a:rPr>
              <a:t>🧤</a:t>
            </a:r>
            <a:endParaRPr sz="3200" b="1" dirty="0">
              <a:solidFill>
                <a:schemeClr val="dk1"/>
              </a:solidFill>
              <a:latin typeface="+mj-ea"/>
              <a:ea typeface="+mj-ea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/>
          <p:nvPr/>
        </p:nvSpPr>
        <p:spPr>
          <a:xfrm>
            <a:off x="5619750" y="2986087"/>
            <a:ext cx="952500" cy="573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1650444" y="3328987"/>
            <a:ext cx="889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웹 </a:t>
            </a:r>
            <a:r>
              <a:rPr lang="en-US" sz="4800" b="1" dirty="0" err="1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인터페이스</a:t>
            </a:r>
            <a:r>
              <a:rPr lang="en-US" sz="4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ko-KR" altLang="en-US" sz="4800" b="1" dirty="0">
                <a:solidFill>
                  <a:srgbClr val="0F172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고도화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73302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41030-26BF-4DFC-9C5A-9EDA35B90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E110E9-F2A3-4DEF-B39E-B5D6F55BA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FC31A2-3EA1-4DBC-8AAC-71D3A41C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462"/>
            <a:ext cx="12192000" cy="5451075"/>
          </a:xfrm>
          <a:prstGeom prst="rect">
            <a:avLst/>
          </a:prstGeom>
        </p:spPr>
      </p:pic>
      <p:sp>
        <p:nvSpPr>
          <p:cNvPr id="6" name="Google Shape;272;p30">
            <a:extLst>
              <a:ext uri="{FF2B5EF4-FFF2-40B4-BE49-F238E27FC236}">
                <a16:creationId xmlns:a16="http://schemas.microsoft.com/office/drawing/2014/main" id="{B802129A-2216-484E-A185-7EC0273DF219}"/>
              </a:ext>
            </a:extLst>
          </p:cNvPr>
          <p:cNvSpPr txBox="1"/>
          <p:nvPr/>
        </p:nvSpPr>
        <p:spPr>
          <a:xfrm>
            <a:off x="239365" y="3787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요즘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ko-KR" alt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🍦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5912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3157C-31C4-4FDB-949C-281BB5A52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335570-AFA3-484B-B444-D8D425EBF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CF2AB-6FAA-4A0B-8F79-DBEE469C6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479"/>
            <a:ext cx="12192000" cy="3599042"/>
          </a:xfrm>
          <a:prstGeom prst="rect">
            <a:avLst/>
          </a:prstGeom>
        </p:spPr>
      </p:pic>
      <p:sp>
        <p:nvSpPr>
          <p:cNvPr id="6" name="Google Shape;278;p31">
            <a:extLst>
              <a:ext uri="{FF2B5EF4-FFF2-40B4-BE49-F238E27FC236}">
                <a16:creationId xmlns:a16="http://schemas.microsoft.com/office/drawing/2014/main" id="{C338C5F6-46AF-4C31-864B-CD8E2D4F618F}"/>
              </a:ext>
            </a:extLst>
          </p:cNvPr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옷차림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👕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86806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6356D-F8D6-4DAC-95C2-F615542C0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5C51BD-4CF7-4116-90CE-A83A3A5554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0BD96F-C6F9-45C7-BAAB-601300C57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963"/>
            <a:ext cx="12192000" cy="5486074"/>
          </a:xfrm>
          <a:prstGeom prst="rect">
            <a:avLst/>
          </a:prstGeom>
        </p:spPr>
      </p:pic>
      <p:sp>
        <p:nvSpPr>
          <p:cNvPr id="6" name="Google Shape;284;p32">
            <a:extLst>
              <a:ext uri="{FF2B5EF4-FFF2-40B4-BE49-F238E27FC236}">
                <a16:creationId xmlns:a16="http://schemas.microsoft.com/office/drawing/2014/main" id="{811D2685-C7D5-4982-8BCA-228069849AC6}"/>
              </a:ext>
            </a:extLst>
          </p:cNvPr>
          <p:cNvSpPr txBox="1"/>
          <p:nvPr/>
        </p:nvSpPr>
        <p:spPr>
          <a:xfrm>
            <a:off x="125505" y="45150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겨울철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날씨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⛄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3520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0285C-CE96-4F58-8C55-1CFEA0BCB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E462AB-94BB-4829-8341-51972BEC3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703"/>
            <a:ext cx="12192000" cy="3428594"/>
          </a:xfrm>
          <a:prstGeom prst="rect">
            <a:avLst/>
          </a:prstGeom>
        </p:spPr>
      </p:pic>
      <p:sp>
        <p:nvSpPr>
          <p:cNvPr id="6" name="Google Shape;290;p33">
            <a:extLst>
              <a:ext uri="{FF2B5EF4-FFF2-40B4-BE49-F238E27FC236}">
                <a16:creationId xmlns:a16="http://schemas.microsoft.com/office/drawing/2014/main" id="{5EB44ECD-3B6E-48A4-8341-58402572BEA2}"/>
              </a:ext>
            </a:extLst>
          </p:cNvPr>
          <p:cNvSpPr txBox="1"/>
          <p:nvPr/>
        </p:nvSpPr>
        <p:spPr>
          <a:xfrm>
            <a:off x="382800" y="533625"/>
            <a:ext cx="2923200" cy="5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옷차림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 </a:t>
            </a:r>
            <a:r>
              <a:rPr lang="en-US" sz="32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추천</a:t>
            </a:r>
            <a:r>
              <a:rPr lang="en-US" sz="32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Lato"/>
                <a:sym typeface="Lato"/>
              </a:rPr>
              <a:t>🧤</a:t>
            </a:r>
            <a:endParaRPr sz="32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30448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/>
        </p:nvSpPr>
        <p:spPr>
          <a:xfrm>
            <a:off x="3559203" y="2731800"/>
            <a:ext cx="5073593" cy="1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 err="1">
                <a:solidFill>
                  <a:schemeClr val="lt1"/>
                </a:solidFill>
                <a:latin typeface="+mj-ea"/>
                <a:ea typeface="+mj-ea"/>
                <a:cs typeface="Lato Black"/>
                <a:sym typeface="Lato Black"/>
              </a:rPr>
              <a:t>감사합니다</a:t>
            </a:r>
            <a:r>
              <a:rPr lang="en-US" sz="7200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!</a:t>
            </a:r>
            <a:endParaRPr sz="72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877</Words>
  <Application>Microsoft Office PowerPoint</Application>
  <PresentationFormat>와이드스크린</PresentationFormat>
  <Paragraphs>106</Paragraphs>
  <Slides>30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Lato Light</vt:lpstr>
      <vt:lpstr>Lato Black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민지 김</cp:lastModifiedBy>
  <cp:revision>8</cp:revision>
  <dcterms:modified xsi:type="dcterms:W3CDTF">2026-06-07T03:26:28Z</dcterms:modified>
</cp:coreProperties>
</file>