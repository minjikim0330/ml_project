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27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11" Type="http://schemas.openxmlformats.org/officeDocument/2006/relationships/image" Target="../media/image17.png"/><Relationship Id="rId10" Type="http://schemas.openxmlformats.org/officeDocument/2006/relationships/image" Target="../media/image9.png"/><Relationship Id="rId9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3465518" y="1764952"/>
            <a:ext cx="5260813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날씨 기반 지능형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의류 추천 시스템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3669059" y="3784252"/>
            <a:ext cx="485388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AI-Driven Personalized Fashion Styling Solution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720349" y="4893176"/>
            <a:ext cx="2751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Project By: 연우</a:t>
            </a:r>
            <a:r>
              <a:rPr lang="en-US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님</a:t>
            </a: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, 인님, 장원,</a:t>
            </a:r>
            <a:r>
              <a:rPr lang="en-US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민지님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986087"/>
            <a:ext cx="95250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201607" y="3328987"/>
            <a:ext cx="7788785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Part 1. 데이터 설계 및 수집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13185"/>
            <a:ext cx="5286375" cy="432241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571500" y="2179885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데이터 피처 설계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571500" y="2713285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실제 기온, 체감 온도, 날씨 상태, 성별 등 다각도 변수를 고려하여 의류 카테고리별 최적의 추천 데이터를 설계하였습니다.</a:t>
            </a:r>
            <a:endParaRPr/>
          </a:p>
        </p:txBody>
      </p:sp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13185"/>
            <a:ext cx="5286375" cy="432241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809625" y="3414266"/>
            <a:ext cx="504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핵심 변수: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기온, 체감온도, 날씨, 성별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09625" y="3757166"/>
            <a:ext cx="504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추천 범주: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아우터, 상의, 하의, 이너, 악세사리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09625" y="4100066"/>
            <a:ext cx="504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성별 분기: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남성/여성용 하의 데이터 구분 적용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3414266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3757166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4100066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62000" y="919311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학습 데이터 구성 및 생성 전략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919311"/>
            <a:ext cx="76200" cy="5619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/>
        </p:nvSpPr>
        <p:spPr>
          <a:xfrm>
            <a:off x="571500" y="2436018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다중 소스 데이터 통합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571500" y="2969418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자체 생성 데이터와 외부 트렌드 데이터를 결합하여 모델의 실용성을 극대화하였습니다.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809625" y="3670399"/>
            <a:ext cx="504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크롤링: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인스타그램 등 SNS 패션 트렌드 데이터 수집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09625" y="4013299"/>
            <a:ext cx="504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환경 최적화: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Google Drive 연동으로 데이터 보존성 확보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809625" y="4356199"/>
            <a:ext cx="504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전처리: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한국어 인코딩 오류 방지 및 로드 메커니즘 적용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09625" y="4699099"/>
            <a:ext cx="504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데이터 규모: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100개에서 10,000개까지의 확장성 확보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571500" y="3670399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71500" y="4013299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4356199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4699099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62000" y="919311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데이터 수집 및 전처리 파이프라인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919311"/>
            <a:ext cx="76200" cy="5619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875" y="1718287"/>
            <a:ext cx="5629475" cy="413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/>
          <p:nvPr/>
        </p:nvSpPr>
        <p:spPr>
          <a:xfrm>
            <a:off x="5619750" y="2986087"/>
            <a:ext cx="95250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1650444" y="3328987"/>
            <a:ext cx="8891111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Part 2. 머신러닝 모델 아키텍처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16075"/>
            <a:ext cx="3479750" cy="3316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7000" y="2416075"/>
            <a:ext cx="3517850" cy="3316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0600" y="2416075"/>
            <a:ext cx="3479750" cy="33164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2749450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904875" y="3587650"/>
            <a:ext cx="29536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KNN (K-최근접 이웃)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904875" y="4121050"/>
            <a:ext cx="28130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100개 미만 초기 단계 데이터셋에 적합합니다. 구현이 용이하며 사람의 상식적 판단과 유사한 결과 도출이 가능합니다.</a:t>
            </a:r>
            <a:endParaRPr/>
          </a:p>
        </p:txBody>
      </p:sp>
      <p:pic>
        <p:nvPicPr>
          <p:cNvPr descr="image.png" id="142" name="Google Shape;14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9425" y="2768500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4689425" y="3606700"/>
            <a:ext cx="2953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Random Forest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4689425" y="4082950"/>
            <a:ext cx="28130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1,000개 규모의 중간 데이터셋에서 강점을 보입니다. 습도, 강수 등 변수 증가에도 과적합 없이 높은 정확도를 유지합니다.</a:t>
            </a:r>
            <a:endParaRPr/>
          </a:p>
        </p:txBody>
      </p:sp>
      <p:pic>
        <p:nvPicPr>
          <p:cNvPr descr="image.png" id="145" name="Google Shape;14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3975" y="2749450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8473975" y="3587650"/>
            <a:ext cx="2953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LightGBM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8473975" y="4063900"/>
            <a:ext cx="28130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10,000개 이상의 대규모 데이터에 최적화되었습니다. 이전 모델의 오차를 집중 학습하여 압도적인 학습 속도와 정밀도를 자랑합니다.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762000" y="919311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데이터 규모별 최적 알고리즘 선정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571500" y="919311"/>
            <a:ext cx="76200" cy="5619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62286"/>
            <a:ext cx="11049000" cy="442421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571500" y="5032623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* 데이터 규모 확장 및 앙상블 기법 적용에 따른 예측 정확도 향상 추이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762000" y="919311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모델별 예측 성능 비교 분석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571500" y="919311"/>
            <a:ext cx="76200" cy="5619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9687" y="2169318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9687" y="2169318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6334125" y="2942778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실시간 성별 및 기상 분기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6334125" y="3476178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모델의 예측 결과를 바탕으로 사용자 환경을 실시간으로 감지하여 최적의 아이템을 선별합니다.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6572250" y="4177158"/>
            <a:ext cx="504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성별 필터링: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치마 추천 방지 등 성별 맞춤형 하의 매칭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6572250" y="4520058"/>
            <a:ext cx="504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기상 보정 로직: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강수량과 기온을 결합한 지능형 판단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6572250" y="4862958"/>
            <a:ext cx="50482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추가용품 제안: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방한용품(목도리, 핫팩), 여름용품(선글라스), 비오는 날(우산)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6334125" y="4177158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6334125" y="4520058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334125" y="4862958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762000" y="919311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사용자 맞춤형 정밀 추천 로직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571500" y="919311"/>
            <a:ext cx="76200" cy="5619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60835"/>
            <a:ext cx="3492549" cy="38271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9799" y="2160835"/>
            <a:ext cx="3492549" cy="38271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8099" y="2160835"/>
            <a:ext cx="3492549" cy="38271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875" y="2494210"/>
            <a:ext cx="28257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83174" y="2494210"/>
            <a:ext cx="28257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61474" y="2494210"/>
            <a:ext cx="28257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834230" y="4665910"/>
            <a:ext cx="296708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비 오는 날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904875" y="5199310"/>
            <a:ext cx="28257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우산, 레인부츠 추천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4612529" y="4665910"/>
            <a:ext cx="296708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추운/눈 오는 날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4683174" y="5199310"/>
            <a:ext cx="28257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목도리, 장갑, 핫팩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8390829" y="4665910"/>
            <a:ext cx="296708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EA5E9"/>
                </a:solidFill>
                <a:latin typeface="Poppins"/>
                <a:ea typeface="Poppins"/>
                <a:cs typeface="Poppins"/>
                <a:sym typeface="Poppins"/>
              </a:rPr>
              <a:t>더운/맑은 날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8461474" y="5199310"/>
            <a:ext cx="282579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선글라스, 모자, 양산</a:t>
            </a:r>
            <a:endParaRPr/>
          </a:p>
        </p:txBody>
      </p:sp>
      <p:pic>
        <p:nvPicPr>
          <p:cNvPr descr="image.png" id="190" name="Google Shape;190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4875" y="2494210"/>
            <a:ext cx="28257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83174" y="2494210"/>
            <a:ext cx="28257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61474" y="2494210"/>
            <a:ext cx="28257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762000" y="919311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상황별 필수 악세사리 서브 로직</a:t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571500" y="919311"/>
            <a:ext cx="76200" cy="5619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62286"/>
            <a:ext cx="11049000" cy="442525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571500" y="5596086"/>
            <a:ext cx="11049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학습 데이터와 테스트 데이터의 8:2 분할 교차 검증을 통해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정밀도(Precision)와 재현율(Recall) 측면에서 매우 높은 안정성을 확인하였습니다.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762000" y="919311"/>
            <a:ext cx="11401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교차 검증을 통한 모델 안정성 확보</a:t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571500" y="919311"/>
            <a:ext cx="76200" cy="56197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3"/>
          <p:cNvSpPr txBox="1"/>
          <p:nvPr/>
        </p:nvSpPr>
        <p:spPr>
          <a:xfrm>
            <a:off x="571500" y="2690961"/>
            <a:ext cx="5200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Stochastic Shuffle Algorithm</a:t>
            </a:r>
            <a:endParaRPr/>
          </a:p>
        </p:txBody>
      </p:sp>
      <p:sp>
        <p:nvSpPr>
          <p:cNvPr id="209" name="Google Shape;209;p23"/>
          <p:cNvSpPr txBox="1"/>
          <p:nvPr/>
        </p:nvSpPr>
        <p:spPr>
          <a:xfrm>
            <a:off x="571500" y="3310086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매번 고정된 결과만 제공하는 시스템의 한계를 극복하기 위해 확률적 무작위 추출 알고리즘을 결합하였습니다.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809625" y="4153941"/>
            <a:ext cx="4714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독립적 셔플: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상/하의, 아우터 리스트를 독립 배열로 관리</a:t>
            </a:r>
            <a:endParaRPr/>
          </a:p>
        </p:txBody>
      </p:sp>
      <p:sp>
        <p:nvSpPr>
          <p:cNvPr id="211" name="Google Shape;211;p23"/>
          <p:cNvSpPr txBox="1"/>
          <p:nvPr/>
        </p:nvSpPr>
        <p:spPr>
          <a:xfrm>
            <a:off x="809625" y="4496841"/>
            <a:ext cx="4714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random.choice: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사용자 접속 시마다 새로운 조합 생성</a:t>
            </a:r>
            <a:endParaRPr/>
          </a:p>
        </p:txBody>
      </p:sp>
      <p:sp>
        <p:nvSpPr>
          <p:cNvPr id="212" name="Google Shape;212;p23"/>
          <p:cNvSpPr txBox="1"/>
          <p:nvPr/>
        </p:nvSpPr>
        <p:spPr>
          <a:xfrm>
            <a:off x="809625" y="4839741"/>
            <a:ext cx="4714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경험적 가치: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한정된 데이터셋으로도 무한한 코디 조합 제공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571500" y="4153941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571500" y="4496841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571500" y="4839741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762000" y="919311"/>
            <a:ext cx="5000625" cy="1123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확률 기반 스타일링 다양성 확보</a:t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571500" y="919311"/>
            <a:ext cx="76200" cy="11239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/>
        </p:nvSpPr>
        <p:spPr>
          <a:xfrm>
            <a:off x="295275" y="2444055"/>
            <a:ext cx="1160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571500" y="3739455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1308025" y="4245747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/>
          <p:nvPr/>
        </p:nvSpPr>
        <p:spPr>
          <a:xfrm>
            <a:off x="571500" y="1776561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/>
          <p:nvPr/>
        </p:nvSpPr>
        <p:spPr>
          <a:xfrm>
            <a:off x="571500" y="2759422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571500" y="374228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571500" y="452705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571500" y="5311824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571500" y="1762273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35" name="Google Shape;235;p25"/>
          <p:cNvSpPr/>
          <p:nvPr/>
        </p:nvSpPr>
        <p:spPr>
          <a:xfrm>
            <a:off x="571500" y="27498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571500" y="274989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 txBox="1"/>
          <p:nvPr/>
        </p:nvSpPr>
        <p:spPr>
          <a:xfrm>
            <a:off x="571500" y="2745134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571500" y="37327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571500" y="373275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 txBox="1"/>
          <p:nvPr/>
        </p:nvSpPr>
        <p:spPr>
          <a:xfrm>
            <a:off x="571500" y="3727995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41" name="Google Shape;241;p25"/>
          <p:cNvSpPr/>
          <p:nvPr/>
        </p:nvSpPr>
        <p:spPr>
          <a:xfrm>
            <a:off x="571500" y="45175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571500" y="45175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571500" y="4512766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44" name="Google Shape;244;p25"/>
          <p:cNvSpPr/>
          <p:nvPr/>
        </p:nvSpPr>
        <p:spPr>
          <a:xfrm>
            <a:off x="571500" y="530229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571500" y="530229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571500" y="5297537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sp>
        <p:nvSpPr>
          <p:cNvPr id="247" name="Google Shape;247;p25"/>
          <p:cNvSpPr/>
          <p:nvPr/>
        </p:nvSpPr>
        <p:spPr>
          <a:xfrm>
            <a:off x="571500" y="62851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571500" y="62851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 txBox="1"/>
          <p:nvPr/>
        </p:nvSpPr>
        <p:spPr>
          <a:xfrm>
            <a:off x="571500" y="6280398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pic>
        <p:nvPicPr>
          <p:cNvPr descr="image.png" id="250" name="Google Shape;2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02510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 txBox="1"/>
          <p:nvPr/>
        </p:nvSpPr>
        <p:spPr>
          <a:xfrm>
            <a:off x="1666875" y="191943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https://media.istockphoto.com/id/837336346/photo/autumn-outfit-womens-fashion-clothes-and-accessories-in-blue-and-red-colors-isolated-on-white.jpg?s=612x612&amp;w=0&amp;k=20&amp;c=_H7GztplNC7pxoMMhXahu4qwQEctADZDxWb43WFdm_M=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1666875" y="236324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pic>
        <p:nvPicPr>
          <p:cNvPr descr="image.png" id="253" name="Google Shape;25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0796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1666875" y="290229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https://static.vecteezy.com/system/resources/previews/027/119/184/non_2x/3d-rendering-data-integration-isolated-useful-for-cloud-network-computing-technology-database-server-and-connection-design-element-png.png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1666875" y="334610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256" name="Google Shape;25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9170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1666875" y="388515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https://www.theknot.com/tk-media/images/6c1a9723-f2a5-405b-a783-c2b94bd918c7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1666875" y="413087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www.theknot.com</a:t>
            </a:r>
            <a:endParaRPr/>
          </a:p>
        </p:txBody>
      </p:sp>
      <p:pic>
        <p:nvPicPr>
          <p:cNvPr descr="image.png" id="259" name="Google Shape;25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7647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1666875" y="466992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https://static.vecteezy.com/system/resources/previews/068/166/099/non_2x/autumn-boots-and-accessories-raincoat-umbrella-and-hat-bright-clothes-for-rainy-season-vector.jpg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1666875" y="491564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262" name="Google Shape;26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5603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1666875" y="545469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https://static.vecteezy.com/system/resources/previews/075/146/804/non_2x/set-of-winter-clothes-and-accessories-including-boots-gloves-hat-scarf-and-earmuffs-concept-of-cold-weather-essentials-cozy-wardrobe-and-seasonal-comfort-vector.jpg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1666875" y="589850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descr="image.png" id="265" name="Google Shape;265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644410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 txBox="1"/>
          <p:nvPr/>
        </p:nvSpPr>
        <p:spPr>
          <a:xfrm>
            <a:off x="1666875" y="643756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https://images.stockcake.com/public/9/c/c/9ccef59d-954c-48fa-9aab-e148f7735862_large/summer-fashion-accessories-stockcake.jpg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1666875" y="6683275"/>
            <a:ext cx="9953625" cy="174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stockcake.com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762000" y="919311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69" name="Google Shape;269;p25"/>
          <p:cNvSpPr/>
          <p:nvPr/>
        </p:nvSpPr>
        <p:spPr>
          <a:xfrm>
            <a:off x="571500" y="919311"/>
            <a:ext cx="76200" cy="476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"/>
          <p:cNvSpPr txBox="1"/>
          <p:nvPr/>
        </p:nvSpPr>
        <p:spPr>
          <a:xfrm>
            <a:off x="571500" y="3530500"/>
            <a:ext cx="1714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EA5E9"/>
                </a:solidFill>
                <a:latin typeface="Lato"/>
                <a:ea typeface="Lato"/>
                <a:cs typeface="Lato"/>
                <a:sym typeface="Lato"/>
              </a:rPr>
              <a:t>→</a:t>
            </a:r>
            <a:endParaRPr/>
          </a:p>
        </p:txBody>
      </p:sp>
      <p:pic>
        <p:nvPicPr>
          <p:cNvPr descr="image.png" id="275" name="Google Shape;27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7933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/>
          <p:nvPr/>
        </p:nvSpPr>
        <p:spPr>
          <a:xfrm>
            <a:off x="1666875" y="368766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https://img.magnific.com/free-vector/modern-abstract-blue-background-with-dark-gradient-geometric-layers-technology-corporate-design_361591-5458.jpg?semt=ais_hybrid&amp;w=740&amp;q=80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1666875" y="413146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www.magnific.com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762000" y="919311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79" name="Google Shape;279;p26"/>
          <p:cNvSpPr/>
          <p:nvPr/>
        </p:nvSpPr>
        <p:spPr>
          <a:xfrm>
            <a:off x="571500" y="919311"/>
            <a:ext cx="76200" cy="4762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